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DB4"/>
    <a:srgbClr val="1A2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322F0-6461-4A84-A0E1-CCAC873B6600}" v="10" dt="2026-04-25T19:46:12.913"/>
    <p1510:client id="{5BC8836D-EB33-F7A5-57F4-3768FD429DCE}" v="19" dt="2026-04-25T13:31:15.852"/>
    <p1510:client id="{81E7E20E-5530-4852-6463-CD75414ABC65}" v="2" dt="2026-04-25T13:10:21.469"/>
    <p1510:client id="{D6570D01-49C9-2F3C-F197-3680BF5DE52D}" v="10" dt="2026-04-25T13:33:14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20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73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Welcome, everyone. Today we're presenting our group project on predicting 30-day hospital readmission risk in End-Stage Renal Disease kidney patients.
This is a high-stakes clinical problem — nearly 1 in 5 kidney patients is readmitted within 30 days of discharge, which is both costly and often preventable.
We built a full machine learning pipeline on publicly available CMS administrative data covering over 3 million discharge events. Our team of four will walk you through the problem, our approach, our findings, and why it matters — each of us taking roughly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Machine learning has improved readmission prediction in kidney failure, but the ESRD dialysis population is fundamentally different — complex treatment regimens, frequent care transitions, and multi-facility data.
Existing dialysis-specific ML studies focus on adequacy metrics or complications, not readmission. Critically, many also suffer from data leakage.
Our research question was clear: can we use all four linked CMS ESRD tables to build a reliable, leakage-free readmission risk model? That gap in the literature is what we set out to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project had four clear objectives.
First, build a database-first pipeline integrating all four CMS ESRD tables — something no prior study had done in a single coherent workflow.
Second, focus on temporal feature engineering: 30-day and 180-day hospitalization counts, discharge gap days, and dialysis adequacy trends.
Third, run a head-to-head model comparison under strict patient-level splitting to prevent leakage.
Fourth, go beyond accuracy — use SHAP to explain what actually drives each prediction. That last step is critical for clinical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evaluated all three models on 100,000 unique patients covering ~390,000 hospitalization events.
Logistic Regression scored 80% accuracy but near-zero recall — it essentially predicted 'no readmission' for almost everyone.
Both CatBoost and LightGBM dramatically outperformed it, reaching AUC of 0.65 and F1 of 0.36. CatBoost edged out as the winner — gaining 27 points in AUC and 32 points in F1 over the logistic baseline.
The subgroup chart shows performance is consistent across age groups and racial demographics — an encouraging equity signal.
We want to be transparent: AUC 0.65 is moderate. The model is useful for risk ranking and triage — not autonomous clinical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SHAP — SHapley Additive exPlanations — lets us look inside the CatBoost model and understand exactly which features push predictions toward or away from readmission.
The left chart shows global feature importance: length of stay, recent 180-day hospitalizations, and prior hospitalizations dominate.
The SHAP beeswarm on the right shows direction: patients with high prior hospitalizations — shown in red on the right — strongly increase readmission risk.
Dialysis adequacy measures like Kt/V do contribute, but they're secondary to utilization history. This makes clinical sense: a patient who's been in and out of hospital frequently carries a very different risk profile.
These findings give clinicians actionable signals to prioritize follow-up at discharge.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our findings, four concrete recommendations.
01 — Deploy as a triage aid alongside clinicians, not as an autonomous system. AUC 0.65 is good enough to rank patients by risk, not to replace clinical judgment.
02 — Care coordination teams should intensify follow-up for patients with recent repeat hospitalizations — this is where SHAP shows the largest risk concentration.
03 — The next pipeline version should enrich features with medication adherence, social determinants of health, and caregiver data — gaps the CMS administrative files can't fill.
04 — Real deployment would integrate prospective scoring at the point of discharge, triggering different response tiers based on the patient's risk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wrap up — three clear takeaways.
What we did: Built the first database-first ML pipeline linking all four CMS ESRD tables — leakage-free, on 3 million discharge events, with real hospitalization labels.
What we found: CatBoost meaningfully outperforms the logistic baseline. Prior hospitalization burden is the dominant risk signal — something clinicians can directly act on at discharge.
Why it matters: Even moderate discrimination is clinically valuable. A score that reliably ranks patients by risk helps discharge planners focus limited follow-up resources where they're needed most.
Next steps are clear: richer features, subgroup fairness calibration, and eventually real-time deployment at the point of discharge.
Thank you — we're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x25214501@student.ncirl.ie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x24244058@student.ncirl.ie" TargetMode="External"/><Relationship Id="rId5" Type="http://schemas.openxmlformats.org/officeDocument/2006/relationships/hyperlink" Target="mailto:x25118692@student.ncirl.ie" TargetMode="External"/><Relationship Id="rId4" Type="http://schemas.openxmlformats.org/officeDocument/2006/relationships/hyperlink" Target="mailto:x24304166@student.ncirl.i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5015484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38" y="264670"/>
            <a:ext cx="819236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Prediction of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30-Day Readmissions in Patients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End-Stage Renal Disease 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Linked CMS ESRD Records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C9799A7-307E-BDAF-30AF-253CF8862A98}"/>
              </a:ext>
            </a:extLst>
          </p:cNvPr>
          <p:cNvSpPr/>
          <p:nvPr/>
        </p:nvSpPr>
        <p:spPr>
          <a:xfrm>
            <a:off x="335241" y="3598670"/>
            <a:ext cx="87412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1300">
                <a:solidFill>
                  <a:srgbClr val="C7E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Mohammed Faizan Khan  	•  Sakshi Patil  	•  Shashank Yadav  	•  Chetan Panchal</a:t>
            </a:r>
            <a:br>
              <a:rPr lang="en-US" sz="1300">
                <a:solidFill>
                  <a:srgbClr val="C7E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>
                <a:solidFill>
                  <a:srgbClr val="C7E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7ECF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25214501  	   	</a:t>
            </a:r>
            <a:r>
              <a:rPr lang="en-US" sz="1100">
                <a:solidFill>
                  <a:srgbClr val="C7E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7ECF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24304166            	            25118692                       	             24244058</a:t>
            </a:r>
          </a:p>
          <a:p>
            <a:pPr lvl="0">
              <a:defRPr/>
            </a:pPr>
            <a:r>
              <a:rPr lang="en-US" sz="1100">
                <a:solidFill>
                  <a:srgbClr val="C7ECFD"/>
                </a:solidFill>
                <a:latin typeface="Calibri" panose="020F0502020204030204"/>
              </a:rPr>
              <a:t>     </a:t>
            </a:r>
            <a:r>
              <a:rPr lang="en-US" sz="1100">
                <a:solidFill>
                  <a:srgbClr val="C7ECF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x25214501@student.ncirl.ie</a:t>
            </a:r>
            <a:r>
              <a:rPr lang="en-US" sz="1100">
                <a:solidFill>
                  <a:srgbClr val="C7ECFD"/>
                </a:solidFill>
              </a:rPr>
              <a:t>                      </a:t>
            </a:r>
            <a:r>
              <a:rPr lang="en-US" sz="1100">
                <a:solidFill>
                  <a:srgbClr val="C7ECFD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x24304166@student.ncirl.ie</a:t>
            </a:r>
            <a:r>
              <a:rPr lang="en-US" sz="1100">
                <a:solidFill>
                  <a:srgbClr val="C7ECFD"/>
                </a:solidFill>
              </a:rPr>
              <a:t>             </a:t>
            </a:r>
            <a:r>
              <a:rPr lang="en-US" sz="1100">
                <a:solidFill>
                  <a:srgbClr val="C7ECFD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x25118692@student.ncirl.ie</a:t>
            </a:r>
            <a:r>
              <a:rPr lang="en-US" sz="1100">
                <a:solidFill>
                  <a:srgbClr val="C7ECFD"/>
                </a:solidFill>
              </a:rPr>
              <a:t>        </a:t>
            </a:r>
            <a:r>
              <a:rPr lang="de-DE" sz="1100">
                <a:solidFill>
                  <a:srgbClr val="C7ECFD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x24244058@student.ncirl.ie</a:t>
            </a:r>
            <a:r>
              <a:rPr lang="de-DE" sz="1100">
                <a:solidFill>
                  <a:srgbClr val="C7ECFD"/>
                </a:solidFill>
              </a:rPr>
              <a:t>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C7ECF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sz="1300">
              <a:solidFill>
                <a:srgbClr val="C7ECFD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152676-C4F4-341D-C595-7F063BCAC4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5950" y="13717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  &amp;  Problem Statement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60520" cy="21930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54864" cy="21930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0624" y="886968"/>
            <a:ext cx="3840480" cy="210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420624" y="1298448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 improves readmission in kidney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20624" y="1673877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Kidney ML targets Kt/V &amp; complications not readmission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20624" y="2066957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study uses all four linked CMS ESRD tables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43484" y="2415442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leakage is a recurring flaw in prior pipelines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727448" y="843510"/>
            <a:ext cx="4160520" cy="21930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27448" y="804672"/>
            <a:ext cx="54864" cy="2193052"/>
          </a:xfrm>
          <a:prstGeom prst="rect">
            <a:avLst/>
          </a:prstGeom>
          <a:solidFill>
            <a:srgbClr val="B866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886968"/>
            <a:ext cx="3840480" cy="210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4892040" y="1298448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30-day readmission = key quality &amp; cost metric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882896" y="1646933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Frequent care transitions make ESRD patients vulnerable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892040" y="1995418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data-driven triage tool exists for discharge risk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882896" y="2370847"/>
            <a:ext cx="3840480" cy="34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Linked ESRD administrative data is vastly underused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56032" y="4447968"/>
            <a:ext cx="8631936" cy="375429"/>
          </a:xfrm>
          <a:prstGeom prst="rect">
            <a:avLst/>
          </a:prstGeom>
          <a:solidFill>
            <a:srgbClr val="D6E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4447968"/>
            <a:ext cx="54864" cy="375429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0624" y="42793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2377440" y="427939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predict 30-day readmission risk in ESRD kidney patients using linked CMS administrative records?</a:t>
            </a:r>
            <a:endParaRPr lang="en-US" sz="1150"/>
          </a:p>
        </p:txBody>
      </p:sp>
      <p:sp>
        <p:nvSpPr>
          <p:cNvPr id="23" name="Shape 6"/>
          <p:cNvSpPr/>
          <p:nvPr/>
        </p:nvSpPr>
        <p:spPr>
          <a:xfrm>
            <a:off x="1562540" y="3166300"/>
            <a:ext cx="1885832" cy="1115066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7"/>
          <p:cNvSpPr/>
          <p:nvPr/>
        </p:nvSpPr>
        <p:spPr>
          <a:xfrm>
            <a:off x="1617946" y="3141532"/>
            <a:ext cx="1885832" cy="6244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3.1M</a:t>
            </a:r>
            <a:endParaRPr lang="en-US" sz="3200"/>
          </a:p>
        </p:txBody>
      </p:sp>
      <p:sp>
        <p:nvSpPr>
          <p:cNvPr id="25" name="Text 8"/>
          <p:cNvSpPr/>
          <p:nvPr/>
        </p:nvSpPr>
        <p:spPr>
          <a:xfrm>
            <a:off x="1617946" y="3893952"/>
            <a:ext cx="1885832" cy="40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Events Analyzed</a:t>
            </a:r>
            <a:endParaRPr lang="en-US" sz="1000"/>
          </a:p>
        </p:txBody>
      </p:sp>
      <p:sp>
        <p:nvSpPr>
          <p:cNvPr id="26" name="Shape 9"/>
          <p:cNvSpPr/>
          <p:nvPr/>
        </p:nvSpPr>
        <p:spPr>
          <a:xfrm>
            <a:off x="3599177" y="3166300"/>
            <a:ext cx="1792365" cy="112217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0"/>
          <p:cNvSpPr/>
          <p:nvPr/>
        </p:nvSpPr>
        <p:spPr>
          <a:xfrm>
            <a:off x="3106485" y="3041828"/>
            <a:ext cx="265176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18.28%</a:t>
            </a:r>
            <a:endParaRPr lang="en-US" sz="3200"/>
          </a:p>
        </p:txBody>
      </p:sp>
      <p:sp>
        <p:nvSpPr>
          <p:cNvPr id="28" name="Text 11"/>
          <p:cNvSpPr/>
          <p:nvPr/>
        </p:nvSpPr>
        <p:spPr>
          <a:xfrm>
            <a:off x="3106485" y="3847414"/>
            <a:ext cx="26517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6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</a:t>
            </a:r>
            <a:endParaRPr lang="en-US" sz="1000"/>
          </a:p>
        </p:txBody>
      </p:sp>
      <p:sp>
        <p:nvSpPr>
          <p:cNvPr id="29" name="Shape 12"/>
          <p:cNvSpPr/>
          <p:nvPr/>
        </p:nvSpPr>
        <p:spPr>
          <a:xfrm>
            <a:off x="5542347" y="3166300"/>
            <a:ext cx="2114645" cy="111827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13"/>
          <p:cNvSpPr/>
          <p:nvPr/>
        </p:nvSpPr>
        <p:spPr>
          <a:xfrm>
            <a:off x="5542347" y="3239452"/>
            <a:ext cx="2114645" cy="626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3200"/>
          </a:p>
        </p:txBody>
      </p:sp>
      <p:sp>
        <p:nvSpPr>
          <p:cNvPr id="31" name="Text 14"/>
          <p:cNvSpPr/>
          <p:nvPr/>
        </p:nvSpPr>
        <p:spPr>
          <a:xfrm>
            <a:off x="5542347" y="3948661"/>
            <a:ext cx="2114645" cy="40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6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Test Sample</a:t>
            </a:r>
            <a:endParaRPr lang="en-US" sz="10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C473046-F8E0-E6A8-E5E7-B24D518DF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0" y="-90200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566928" cy="178308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" y="804672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914400" y="987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Four Data Sources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CMS ESRD tables — demographics, treatment, hospitalizations, dialysis adequacy — into one patient-level model.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727448" y="804672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566928" cy="178308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27448" y="804672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5385816" y="987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Temporal Features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385816" y="1408176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cumulative hospitalisations, 30/180-day events, discharge gaps, Kt/V trends and treatment modality.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256032" y="28346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56032" y="2834640"/>
            <a:ext cx="566928" cy="178308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6032" y="2834640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Three ML Models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(baseline), CatBoost, and LightGBM — with leakage-free patient-level train/test split.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4727448" y="28346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27448" y="2834640"/>
            <a:ext cx="566928" cy="178308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27448" y="2834640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5385816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 with SHAP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5385816" y="343814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clinically meaningful risk drivers to support real discharge-planning decisions.</a:t>
            </a:r>
            <a:endParaRPr lang="en-US" sz="115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8393EC9-209C-72B7-D5C2-C8D7C618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0" y="-90200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Results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04672"/>
            <a:ext cx="5120640" cy="2423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37560"/>
            <a:ext cx="5120640" cy="1600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0" y="804672"/>
            <a:ext cx="3246120" cy="38404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669280" y="8046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1100"/>
          </a:p>
        </p:txBody>
      </p:sp>
      <p:sp>
        <p:nvSpPr>
          <p:cNvPr id="9" name="Shape 5"/>
          <p:cNvSpPr/>
          <p:nvPr/>
        </p:nvSpPr>
        <p:spPr>
          <a:xfrm>
            <a:off x="5669280" y="1188720"/>
            <a:ext cx="3246120" cy="402336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669280" y="11887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</a:t>
            </a:r>
            <a:endParaRPr lang="en-US" sz="1100"/>
          </a:p>
        </p:txBody>
      </p:sp>
      <p:sp>
        <p:nvSpPr>
          <p:cNvPr id="11" name="Text 7"/>
          <p:cNvSpPr/>
          <p:nvPr/>
        </p:nvSpPr>
        <p:spPr>
          <a:xfrm>
            <a:off x="7178040" y="11887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8046720" y="11887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5669280" y="1591056"/>
            <a:ext cx="32461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669280" y="15910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00"/>
          </a:p>
        </p:txBody>
      </p:sp>
      <p:sp>
        <p:nvSpPr>
          <p:cNvPr id="15" name="Text 11"/>
          <p:cNvSpPr/>
          <p:nvPr/>
        </p:nvSpPr>
        <p:spPr>
          <a:xfrm>
            <a:off x="7178040" y="159105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0.6309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8046720" y="159105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3E50"/>
                </a:solidFill>
                <a:ea typeface="+mn-lt"/>
                <a:cs typeface="+mn-lt"/>
              </a:rPr>
              <a:t>0.3469</a:t>
            </a:r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669280" y="1993392"/>
            <a:ext cx="3246120" cy="40233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669280" y="19933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/>
          </a:p>
        </p:txBody>
      </p:sp>
      <p:sp>
        <p:nvSpPr>
          <p:cNvPr id="19" name="Text 15"/>
          <p:cNvSpPr/>
          <p:nvPr/>
        </p:nvSpPr>
        <p:spPr>
          <a:xfrm>
            <a:off x="7178040" y="19933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0.6242</a:t>
            </a:r>
            <a:endParaRPr lang="en-US" sz="1100"/>
          </a:p>
        </p:txBody>
      </p:sp>
      <p:sp>
        <p:nvSpPr>
          <p:cNvPr id="20" name="Text 16"/>
          <p:cNvSpPr/>
          <p:nvPr/>
        </p:nvSpPr>
        <p:spPr>
          <a:xfrm>
            <a:off x="8046720" y="19933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0.3499</a:t>
            </a:r>
            <a:endParaRPr lang="en-US" sz="1100"/>
          </a:p>
        </p:txBody>
      </p:sp>
      <p:sp>
        <p:nvSpPr>
          <p:cNvPr id="21" name="Shape 17"/>
          <p:cNvSpPr/>
          <p:nvPr/>
        </p:nvSpPr>
        <p:spPr>
          <a:xfrm>
            <a:off x="5669280" y="2395728"/>
            <a:ext cx="3246120" cy="402336"/>
          </a:xfrm>
          <a:prstGeom prst="rect">
            <a:avLst/>
          </a:prstGeom>
          <a:solidFill>
            <a:srgbClr val="D6E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669280" y="2395728"/>
            <a:ext cx="150876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✓</a:t>
            </a:r>
            <a:endParaRPr lang="en-US" sz="1100"/>
          </a:p>
        </p:txBody>
      </p:sp>
      <p:sp>
        <p:nvSpPr>
          <p:cNvPr id="23" name="Text 19"/>
          <p:cNvSpPr/>
          <p:nvPr/>
        </p:nvSpPr>
        <p:spPr>
          <a:xfrm>
            <a:off x="7178040" y="23957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1100" b="1">
                <a:solidFill>
                  <a:srgbClr val="1A2B5E"/>
                </a:solidFill>
                <a:ea typeface="+mn-lt"/>
                <a:cs typeface="+mn-lt"/>
              </a:rPr>
              <a:t>6453</a:t>
            </a:r>
            <a:endParaRPr lang="en-US" sz="11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046720" y="23957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0.3499</a:t>
            </a:r>
            <a:endParaRPr lang="en-US" sz="1100"/>
          </a:p>
        </p:txBody>
      </p:sp>
      <p:sp>
        <p:nvSpPr>
          <p:cNvPr id="25" name="Shape 21"/>
          <p:cNvSpPr/>
          <p:nvPr/>
        </p:nvSpPr>
        <p:spPr>
          <a:xfrm>
            <a:off x="5669280" y="2852928"/>
            <a:ext cx="1033272" cy="9601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669280" y="2880360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2000"/>
          </a:p>
        </p:txBody>
      </p:sp>
      <p:sp>
        <p:nvSpPr>
          <p:cNvPr id="27" name="Text 23"/>
          <p:cNvSpPr/>
          <p:nvPr/>
        </p:nvSpPr>
        <p:spPr>
          <a:xfrm>
            <a:off x="5669280" y="3355848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D6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D6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(CatBoost)</a:t>
            </a:r>
            <a:endParaRPr lang="en-US" sz="850"/>
          </a:p>
        </p:txBody>
      </p:sp>
      <p:sp>
        <p:nvSpPr>
          <p:cNvPr id="28" name="Shape 24"/>
          <p:cNvSpPr/>
          <p:nvPr/>
        </p:nvSpPr>
        <p:spPr>
          <a:xfrm>
            <a:off x="6757416" y="2852928"/>
            <a:ext cx="1033272" cy="96012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757416" y="2880360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+27pt</a:t>
            </a:r>
            <a:endParaRPr lang="en-US" sz="2000"/>
          </a:p>
        </p:txBody>
      </p:sp>
      <p:sp>
        <p:nvSpPr>
          <p:cNvPr id="30" name="Text 26"/>
          <p:cNvSpPr/>
          <p:nvPr/>
        </p:nvSpPr>
        <p:spPr>
          <a:xfrm>
            <a:off x="6757416" y="3355848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gain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850"/>
          </a:p>
        </p:txBody>
      </p:sp>
      <p:sp>
        <p:nvSpPr>
          <p:cNvPr id="31" name="Shape 27"/>
          <p:cNvSpPr/>
          <p:nvPr/>
        </p:nvSpPr>
        <p:spPr>
          <a:xfrm>
            <a:off x="7845552" y="2852928"/>
            <a:ext cx="1033272" cy="9601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7845552" y="2880360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+32pt</a:t>
            </a:r>
            <a:endParaRPr lang="en-US" sz="2000"/>
          </a:p>
        </p:txBody>
      </p:sp>
      <p:sp>
        <p:nvSpPr>
          <p:cNvPr id="33" name="Text 29"/>
          <p:cNvSpPr/>
          <p:nvPr/>
        </p:nvSpPr>
        <p:spPr>
          <a:xfrm>
            <a:off x="7845552" y="3355848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gain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850"/>
          </a:p>
        </p:txBody>
      </p:sp>
      <p:sp>
        <p:nvSpPr>
          <p:cNvPr id="34" name="Text 30"/>
          <p:cNvSpPr/>
          <p:nvPr/>
        </p:nvSpPr>
        <p:spPr>
          <a:xfrm>
            <a:off x="566928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across all demographic subgroups</a:t>
            </a:r>
            <a:endParaRPr lang="en-US" sz="1100"/>
          </a:p>
        </p:txBody>
      </p:sp>
      <p:sp>
        <p:nvSpPr>
          <p:cNvPr id="35" name="Text 31"/>
          <p:cNvSpPr/>
          <p:nvPr/>
        </p:nvSpPr>
        <p:spPr>
          <a:xfrm>
            <a:off x="5669280" y="4270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variation → broad clinical utility</a:t>
            </a:r>
            <a:endParaRPr lang="en-US" sz="100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5D582CD-7716-CE20-68C4-03EDE30BE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950" y="-90200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Readmission Risk?   Feature Importance &amp; SHAP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04672"/>
            <a:ext cx="4480560" cy="23317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804672"/>
            <a:ext cx="4023360" cy="41330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3273552"/>
            <a:ext cx="420624" cy="374904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256032" y="3273552"/>
            <a:ext cx="420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50"/>
          </a:p>
        </p:txBody>
      </p:sp>
      <p:sp>
        <p:nvSpPr>
          <p:cNvPr id="9" name="Text 5"/>
          <p:cNvSpPr/>
          <p:nvPr/>
        </p:nvSpPr>
        <p:spPr>
          <a:xfrm>
            <a:off x="749808" y="3282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Hospitalizations</a:t>
            </a:r>
            <a:endParaRPr lang="en-US" sz="1050"/>
          </a:p>
        </p:txBody>
      </p:sp>
      <p:sp>
        <p:nvSpPr>
          <p:cNvPr id="10" name="Text 6"/>
          <p:cNvSpPr/>
          <p:nvPr/>
        </p:nvSpPr>
        <p:spPr>
          <a:xfrm>
            <a:off x="749808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lifetime burden</a:t>
            </a:r>
            <a:endParaRPr lang="en-US" sz="900"/>
          </a:p>
        </p:txBody>
      </p:sp>
      <p:sp>
        <p:nvSpPr>
          <p:cNvPr id="11" name="Shape 7"/>
          <p:cNvSpPr/>
          <p:nvPr/>
        </p:nvSpPr>
        <p:spPr>
          <a:xfrm>
            <a:off x="256032" y="3721608"/>
            <a:ext cx="420624" cy="374904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56032" y="3721608"/>
            <a:ext cx="420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50"/>
          </a:p>
        </p:txBody>
      </p:sp>
      <p:sp>
        <p:nvSpPr>
          <p:cNvPr id="13" name="Text 9"/>
          <p:cNvSpPr/>
          <p:nvPr/>
        </p:nvSpPr>
        <p:spPr>
          <a:xfrm>
            <a:off x="749808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180-day Admissions</a:t>
            </a:r>
            <a:endParaRPr lang="en-US" sz="1050"/>
          </a:p>
        </p:txBody>
      </p:sp>
      <p:sp>
        <p:nvSpPr>
          <p:cNvPr id="14" name="Text 10"/>
          <p:cNvSpPr/>
          <p:nvPr/>
        </p:nvSpPr>
        <p:spPr>
          <a:xfrm>
            <a:off x="749808" y="39227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instability</a:t>
            </a:r>
            <a:endParaRPr lang="en-US" sz="900"/>
          </a:p>
        </p:txBody>
      </p:sp>
      <p:sp>
        <p:nvSpPr>
          <p:cNvPr id="15" name="Shape 11"/>
          <p:cNvSpPr/>
          <p:nvPr/>
        </p:nvSpPr>
        <p:spPr>
          <a:xfrm>
            <a:off x="256032" y="4169664"/>
            <a:ext cx="420624" cy="374904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56032" y="4169664"/>
            <a:ext cx="420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50"/>
          </a:p>
        </p:txBody>
      </p:sp>
      <p:sp>
        <p:nvSpPr>
          <p:cNvPr id="17" name="Text 13"/>
          <p:cNvSpPr/>
          <p:nvPr/>
        </p:nvSpPr>
        <p:spPr>
          <a:xfrm>
            <a:off x="749808" y="4178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050"/>
          </a:p>
        </p:txBody>
      </p:sp>
      <p:sp>
        <p:nvSpPr>
          <p:cNvPr id="18" name="Text 14"/>
          <p:cNvSpPr/>
          <p:nvPr/>
        </p:nvSpPr>
        <p:spPr>
          <a:xfrm>
            <a:off x="749808" y="43708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Illness severity proxy</a:t>
            </a:r>
            <a:endParaRPr lang="en-US" sz="900"/>
          </a:p>
        </p:txBody>
      </p:sp>
      <p:sp>
        <p:nvSpPr>
          <p:cNvPr id="19" name="Shape 15"/>
          <p:cNvSpPr/>
          <p:nvPr/>
        </p:nvSpPr>
        <p:spPr>
          <a:xfrm>
            <a:off x="256032" y="4617720"/>
            <a:ext cx="420624" cy="374904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56032" y="4617720"/>
            <a:ext cx="420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50"/>
          </a:p>
        </p:txBody>
      </p:sp>
      <p:sp>
        <p:nvSpPr>
          <p:cNvPr id="21" name="Text 17"/>
          <p:cNvSpPr/>
          <p:nvPr/>
        </p:nvSpPr>
        <p:spPr>
          <a:xfrm>
            <a:off x="749808" y="4626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Gap (days)</a:t>
            </a:r>
            <a:endParaRPr lang="en-US" sz="1050"/>
          </a:p>
        </p:txBody>
      </p:sp>
      <p:sp>
        <p:nvSpPr>
          <p:cNvPr id="22" name="Text 18"/>
          <p:cNvSpPr/>
          <p:nvPr/>
        </p:nvSpPr>
        <p:spPr>
          <a:xfrm>
            <a:off x="749808" y="48188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gap = higher risk</a:t>
            </a:r>
            <a:endParaRPr lang="en-US" sz="9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2D1815C-902A-8F74-0B2F-D3DDFE91D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950" y="-90200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Contributions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54864" cy="178308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749040" y="804672"/>
            <a:ext cx="667512" cy="384048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0" y="80467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38912" y="941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Aid — Not Autonomous Diagnosis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Calibri"/>
                <a:ea typeface="Calibri"/>
                <a:cs typeface="Calibri"/>
              </a:rPr>
              <a:t>AUC 0.6453 supports risk stratification.</a:t>
            </a:r>
            <a:endParaRPr lang="en-US" sz="115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alongside clinicians, not instead of them.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27448" y="804672"/>
            <a:ext cx="54864" cy="178308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0456" y="804672"/>
            <a:ext cx="667512" cy="38404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0456" y="80467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910328" y="941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Intensify Follow-Up for Repeat Admissions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4910328" y="14813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recent hospitalisations drive risk.</a:t>
            </a:r>
            <a:endParaRPr lang="en-US" sz="1150"/>
          </a:p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these patients at every discharge.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256032" y="2816352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6032" y="2816352"/>
            <a:ext cx="54864" cy="1783080"/>
          </a:xfrm>
          <a:prstGeom prst="rect">
            <a:avLst/>
          </a:prstGeom>
          <a:solidFill>
            <a:srgbClr val="B866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49040" y="2816352"/>
            <a:ext cx="667512" cy="384048"/>
          </a:xfrm>
          <a:prstGeom prst="rect">
            <a:avLst/>
          </a:prstGeom>
          <a:solidFill>
            <a:srgbClr val="B866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749040" y="281635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438912" y="29535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the Feature Set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38912" y="34930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medication adherence, socioeconomic</a:t>
            </a:r>
            <a:endParaRPr lang="en-US" sz="1150"/>
          </a:p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and caregiver support data.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4727448" y="2816352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27448" y="2816352"/>
            <a:ext cx="54864" cy="178308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20456" y="2816352"/>
            <a:ext cx="667512" cy="38404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0456" y="281635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910328" y="29535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Real-Time Deployment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4910328" y="34930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discharge scoring enables</a:t>
            </a:r>
            <a:endParaRPr lang="en-US" sz="1150"/>
          </a:p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 response tiers in care management.</a:t>
            </a:r>
            <a:endParaRPr lang="en-US" sz="115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49B7AF4-0146-FAF5-3158-88147F293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0" y="-90200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600200" cy="12344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" y="804672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011680" y="100584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ML pipeline on four linked CMS ESRD tables → 3M patients, real hospitalization labels.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56032" y="2157984"/>
            <a:ext cx="8631936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2157984"/>
            <a:ext cx="1600200" cy="12344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2157984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2011680" y="2359152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CatBoost</a:t>
            </a:r>
            <a:r>
              <a:rPr lang="en-US" sz="1300" dirty="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: AUC 0.6453, F1 0.3499 — substantially above baseline. Prior hospitalizations &amp; length of stay dominate risk.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" y="3511296"/>
            <a:ext cx="8631936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" y="3511296"/>
            <a:ext cx="1600200" cy="12344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" y="3511296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011680" y="3712464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discrimination is valuable for clinical triage. Administrative ESRD data holds real predictive signal.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56032" y="4709160"/>
            <a:ext cx="8631936" cy="310896"/>
          </a:xfrm>
          <a:prstGeom prst="rect">
            <a:avLst/>
          </a:prstGeom>
          <a:solidFill>
            <a:srgbClr val="D6E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6032" y="4709160"/>
            <a:ext cx="54864" cy="310896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47091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Richer features  ·  Subgroup calibration  ·  Prospective real-world deployment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F4E53F-859B-297B-E924-F071803B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0" y="-90200"/>
            <a:ext cx="908050" cy="8412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</Words>
  <Application>Microsoft Office PowerPoint</Application>
  <PresentationFormat>On-screen Show (16:9)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30-Day Hospital Readmission Risk in ESRD Dialysis Patients</dc:title>
  <dc:subject>PptxGenJS Presentation</dc:subject>
  <dc:creator>PptxGenJS</dc:creator>
  <cp:lastModifiedBy>Shashank Yadav</cp:lastModifiedBy>
  <cp:revision>2</cp:revision>
  <dcterms:created xsi:type="dcterms:W3CDTF">2026-04-24T09:19:45Z</dcterms:created>
  <dcterms:modified xsi:type="dcterms:W3CDTF">2026-04-25T23:53:10Z</dcterms:modified>
</cp:coreProperties>
</file>